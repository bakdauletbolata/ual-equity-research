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HOLD: цель $109 (+6%) — франшиза сильная, но цена уже учитывает возврат маржи к средней за цикл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UAL_model.xlsx; цена NASDAQ на закрытие 13.10.2026; отчётность по 2 кв. 2026 (3 кв. выходит 20.10.2026).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840480" cy="47548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  <a:latin typeface="Arial"/>
              </a:defRPr>
            </a:pPr>
            <a:r>
              <a:t>United Airlines (NASDAQ: UAL)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  <a:latin typeface="Arial"/>
              </a:defRPr>
            </a:pPr>
            <a:r>
              <a:t>Рекомендация: HOLD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  <a:latin typeface="Arial"/>
              </a:defRPr>
            </a:pPr>
            <a:r>
              <a:t>Цель 12 мес.: $109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  <a:latin typeface="Arial"/>
              </a:defRPr>
            </a:pPr>
            <a:r>
              <a:t>Диапазон: $101–119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  <a:latin typeface="Arial"/>
              </a:defRPr>
            </a:pPr>
            <a:r>
              <a:t>Цена: $103,23 (13.10.2026)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  <a:latin typeface="Arial"/>
              </a:defRPr>
            </a:pPr>
            <a:r>
              <a:t>Потенциал: +5,6%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  <a:latin typeface="Arial"/>
              </a:defRPr>
            </a:pPr>
            <a:r>
              <a:t>Сценарии: $35 / $101 / $200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  <a:latin typeface="Arial"/>
              </a:defRPr>
            </a:pPr>
            <a:r>
              <a:t>Вероятности: 25% / 50% / 25%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  <a:latin typeface="Arial"/>
              </a:defRPr>
            </a:pPr>
            <a:r>
              <a:t>WACC 8,5%, g 2,5%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  <a:latin typeface="Arial"/>
              </a:defRPr>
            </a:pPr>
            <a:r>
              <a:t>EPS 2026E (наш): $6,09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  <a:latin typeface="Arial"/>
              </a:defRPr>
            </a:pPr>
            <a:r>
              <a:t>EPS 2027E (наш): $8,71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4173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864"/>
                </a:solidFill>
                <a:latin typeface="Arial"/>
              </a:defRPr>
            </a:pPr>
            <a:r>
              <a:t>Три факта, на которых держится вывод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1. Топливный шок съедает маржу: топливо $4,19/галл. во 2К26 (+79% г/г), скорр. опер. маржа 5,4% против 11,6% год назад; спот Gulf Coast в сент.–окт. $4,34–4,39 — выше допущения UAL на 3К ($3,69). Наша EPS 2026E $6,09 против консенсуса $7,92.</a:t>
            </a:r>
          </a:p>
          <a:p>
            <a:pPr>
              <a:spcAft>
                <a:spcPts val="4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2. Франшиза выдерживает шок: TRASM +12,1% во 2К26, премиум +16%, MileagePlus ~11% выручки; чистый долг/EBITDAR 2,3x, ликвидность $19,6 млрд.</a:t>
            </a:r>
          </a:p>
          <a:p>
            <a:pPr>
              <a:spcAft>
                <a:spcPts val="400"/>
              </a:spcAft>
              <a:defRPr sz="1300" b="0">
                <a:solidFill>
                  <a:srgbClr val="0B0B0B"/>
                </a:solidFill>
                <a:latin typeface="Arial"/>
              </a:defRPr>
            </a:pPr>
            <a:r>
              <a:t>3. Цена уже закладывает возврат к средней марже цикла: reverse DCF даёт маржу 2032E 8,6% при средней за цикл 8,6%; для роста нужна маржа выше истории, а цели менеджмента в 2025–2026 не выполнены.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Прочая выручка (в основном MileagePlus) — 6,5% выручки, но в 2020 она упала лишь на 23% против −70% у билетов: это стабилизатор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10-K 2025 (прим. 2: партнёрская выручка $3,2 млрд, погашения миль $3,4 млрд); 8-K 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2</a:t>
            </a:r>
          </a:p>
        </p:txBody>
      </p:sp>
      <p:pic>
        <p:nvPicPr>
          <p:cNvPr id="6" name="Picture 5" descr="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3152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37160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Хабы: Newark, Chicago, Denver, Houston, San Francisco, Washington-Dulles, Los Angeles, Guam; Star Alliance + JV с Lufthansa/Air Canada, ANA, Air NZ.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Доля пассажиров в хабе (BTS 2024, вторичн. источник): EWR 58%, SFO 44%, IAH 39%, DEN 38%, ORD 30%.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MileagePlus: партнёрская выручка $3,2 млрд + погашения на перелёты $3,4 млрд ≈ 11,2% выручки 2025 (наша оценка).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Chase платит за мили вперёд по объёму трат по картам — выручка зависит от потребительских расходов, а не от продаж кресел; договор продлён до 2029.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Груз: 3,0% выручки, +23% г/г во 2К26.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Слабость: доля премиальной выручки UAL не раскрывается (не найдено) — у Delta премиум ≈39% выручки.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Менеджмент выполняет прогнозы капзатрат, но не прибыли: цели по EPS 2025 и марже 2025 пропущены, прогноз 2026 снижен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Investor Updates UAL (8-K 21.01.2025, 20.01.2026, 21.04.2026, 15.07.2026); пресс-релизы по итогам 4 кв.; 10-Q 2К26.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  <a:gridCol w="2194560"/>
                <a:gridCol w="3200400"/>
              </a:tblGrid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Цель / прогноз менеджмента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План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Факт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Статус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Скорр. EPS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$10–12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$10,05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Выполнено (нижняя граница)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Скорр. EPS 2024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$9–11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$10,61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Выполнено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Скорр. EPS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$11,50–13,50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$10,62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Не выполнено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«Двузначная» маржа до налога (янв. 2025)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≥10%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7,8% (2025)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Не выполнено; цель перенесена на 2027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Скорр. EPS 2026 (янв. → апр. → июль)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$12–14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$7–11 → $9–11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Снижен из-за топлива; консенсус $7,92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Капзатраты 2025 / 2026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&lt;$7 / &lt;$8 млрд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$6,3 / ~$7,5 млрд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Выполняется (помогают задержки Boeing)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Инвестиционный рейтинг в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BB+ / Ba1 / BB+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В процессе (S&amp;P — позитивный прогноз)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  <a:latin typeface="Arial"/>
              </a:defRPr>
            </a:pPr>
            <a:r>
              <a:t>Стратегия United Next: премиальные кабины (Polaris, Premium Plus), более 630 новых самолётов до 2034, Starlink во всём парке к концу 2027 (450 бортов на июль 2026), A321XLR с международными рейсами с начала 2027.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Рост RASM у UAL на уровне Delta, но маржа ниже: дорогое топливо ($4,19/галл.) и CASM-ex +6% — преимущество над DAL не доказано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8-K за 2 кв. 2026: UAL 15.07, DAL 10.07, AAL 23.07, LUV 22.07.2026. *DAL — скорр. TRASM без выручки НПЗ. LUV — RASM, короткие рейсы: несопоставим по удельным показателям.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920240"/>
                <a:gridCol w="1920240"/>
                <a:gridCol w="1920240"/>
                <a:gridCol w="1920240"/>
              </a:tblGrid>
              <a:tr h="56170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Показатель (2 кв. 2026)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LUV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TRASM, центы (г/г)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20,25 (+12,1%)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22,45* (+12,4%)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20,45 (+10,3%)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17,91 (+16,2%)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CASM-ex, центы (г/г)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13,12 (+6,1%)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14,09 (+6,8%)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13,93 (+2,9%)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12,45 (+3,4%)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Топливо, $/галлон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4,19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3,93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4,05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3,92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Скорр. опер. маржа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5,4%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8,8%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2,7%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6,7%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Рост ASM г/г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+3,5%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~+1%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+5,4%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+0,2%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Загрузка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83,4%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н/д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83,2%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79,3%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  <a:latin typeface="Arial"/>
              </a:defRPr>
            </a:pPr>
            <a:r>
              <a:t>Пунктуальность: точные данные DOT по перевозчикам за 2025 не найдены; PIRG (по данным DOT) относит к лучшим Delta и Southwest, United в тройку не входит. UAL сообщает о лучших вылетах вовремя за 2 кв. с 2021 года.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С 2019 CASM-ex вырос на 24%, а TRASM — на 18%: затраты обгоняют выручку, поэтому маржа 2025 ниже докризисной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8-K UAL по итогам 4 кв. 2019–2025 и 15.07.2026.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5</a:t>
            </a:r>
          </a:p>
        </p:txBody>
      </p:sp>
      <p:pic>
        <p:nvPicPr>
          <p:cNvPr id="6" name="Picture 5" descr="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3152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37160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Скорр. опер. маржа: 2019 10,5% → 2023 9,6% → 2025 8,4% → TTM 6,8%.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Средняя за цикл (2019, 2022–2025): 8,6%.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Загрузка 2025: 82,2%; доходность 19,67 цента на RPM.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Топливная эффективность: 15,06 → 14,12 галл. на 1000 ASM (−1,1% в год, новые самолёты).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ASM на сотрудника: 2,97 млн (2019) → 2,92 млн (2025) — производительность вернулась к уровню 2019.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Скачок цены топлива в 2026 съел половину маржи: тариф покрывает рост с лагом (2К26 ~50%), а спот в сент.–окт. выше прогноза 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8-K UAL; FRED MJFUELUSGULF / DJFUELUSGULF (EIA); Investor Update 15.07.2026.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6</a:t>
            </a:r>
          </a:p>
        </p:txBody>
      </p:sp>
      <p:pic>
        <p:nvPicPr>
          <p:cNvPr id="6" name="Picture 5" descr="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680960" cy="3413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371600"/>
            <a:ext cx="3566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UAL не хеджирует топливо: +10% к цене = −$1,4 млрд опер. прибыли за TTM (33% скорр. опер. прибыли); ±1% RASM = ±$0,63 млрд (15%).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Прогноз UAL на 3К26 исходил из $3,69/галл.; спот Gulf Coast в сентябре $4,39 (+$0,35 логистика и налоги) → риск недовыполнения.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Delta 09.10.2026 снизила прогноз EPS на 2026 до $5,10–5,60 (с $6,50–7,50) из-за топлива — сигнал для всего сектора.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CFO в 2,5 раза выше прибыли из-за амортизации, неденежного налога (NOL) и авансов; FCF съедают капзатраты ~11% выручки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XBRL 10-K/10-Q UAL; балансы 8-K (ATL и отложенная выручка MileagePlus).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7</a:t>
            </a:r>
          </a:p>
        </p:txBody>
      </p:sp>
      <p:pic>
        <p:nvPicPr>
          <p:cNvPr id="6" name="Picture 5" descr="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3152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37160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2025: прирост авансов (ATL) и отложенной выручки миль дал $0,9 млрд к CFO; без него CFO/прибыль = 2,2x.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(ATL + отложенная выручка) = 26,9% выручки: при спаде спроса этот приток разворачивается.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Текущий налог 2025 — $28 млн при прибыли до налога $4,3 млрд: NOL $10,6 млрд.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Скорр. капзатраты: 10,6% выручки в 2025, ~$7,5 млрд в 2026.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Выкуп акций: $637 млн в 2025, $27 млн в 1П26; остаток программы $755 млн.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Долг под контролем: чистый скорр. долг $18,1 млрд = 2,3x EBITDAR, ликвидность $19,6 млрд; нагрузка через CFO выглядит мягче, чем есть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8-K 15.07.2026; 10-K 2025 (график обязательств); 10-Q 2К26 (рейтинги).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8</a:t>
            </a:r>
          </a:p>
        </p:txBody>
      </p:sp>
      <p:pic>
        <p:nvPicPr>
          <p:cNvPr id="6" name="Picture 5" descr="l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3152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37160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Скорр. долг $34,7 млрд: долг $26,5 + аренда $7,2 + пенсии $1,1.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Платежи по долгу и аренде: $6,4 млрд в 2026, $4,7 млрд в 2027.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Покрытие процентов (скорр. EBIT): 3,2x; EBITDAR/(% + аренда): 4,7x.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Рейтинги BB+ / Ba1 / BB+, цель — IG в 2026.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Долг/CFO (2,0x) занижен авансами и нулевыми налогами; надёжнее EBITDAR через цикл (без ATL CFO даёт 2,6x в 2025).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Boeing поставит UAL лишь ~75% контрактных самолётов в 2П26–2027: рост ограничен, но капзатраты ниже плана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10-Q UAL за 2 кв. 2026 (Firm Order and Option Aircraft). Ожидаемые поставки — с учётом задержек, сообщённых Boeing/Airbus.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7315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1188720"/>
                <a:gridCol w="1188720"/>
                <a:gridCol w="1188720"/>
              </a:tblGrid>
              <a:tr h="4963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Тип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Контракт 2П26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Ожид. 2П26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Контракт 2027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Ожид. 2027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Boeing 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Boeing 737 MAX 9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Boeing 737 MAX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Airbus A321neo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Airbus A321XLR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Итого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1371600"/>
            <a:ext cx="3566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MAX 10 не сертифицирован: 0 поставок в 2П26 вместо 3; в 2027 ожидается 20 из 44.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787: 12 ожидаемых в 2П26 против 42 по контракту.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Последствия: рост ASM 2026 ~2,5%; капзатраты сдвигаются на 2028+ (по контракту $7,4–9,0 млрд в год в 2028–2030).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Плюс: меньше капзатрат и выше загрузка в 2026–2027. Минус: старый парк дольше летает, CASM-ex выше.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UAL дешевле пиров по EV/EBITDAR (6,3x против 9,0x), но медиана искажена убытками; против своей истории дешевизны нет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SEC XBRL (TTM на 30.06.2026: FY2025 + 1П26 − 1П25), цены 13.10.2026 (Yahoo Finance); EV включает опер. аренду и пенсии. Консенсус UAL — Yahoo Finance; DAL — гайденс 09.10.2026.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463040"/>
              </a:tblGrid>
              <a:tr h="447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LUV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JBLU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Медиана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EV/EBITDAR (GAAP)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6,3x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8,2x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9,0x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8,9x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11,4x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40,9x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9,0x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P/E TTM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9,6x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13,3x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н/п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23,8x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н/п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н/п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18,5x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FCF yield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7,5%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6,5%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3,4%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-2,0%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-3,2%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-85,5%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-2,0%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EV/выручка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0,82x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1,04x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0,64x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0,77x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0,65x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0,91x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0,77x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P/B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2,02x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2,40x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н/п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2,81x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1,15x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0,80x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1,77x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Опер. маржа TTM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7,7%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8,1%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1,7%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3,5%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-1,5%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-5,9%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1,7%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Чист. долг/EBITDAR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2,2x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2,1x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7,0x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1,3x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6,3x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34,9x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6,3x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P/E FY2026 (конс./гайденс)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13,0x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14,9x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н/п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н/д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н/д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н/д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  <a:latin typeface="Arial"/>
              </a:defRPr>
            </a:pPr>
            <a:r>
              <a:t>История UAL (EV/EBITDAR на конец года, 2019 и 2022–2025): 4,6–6,7x, медиана 6,2x; сейчас 6,7x (то же определение) — верх диапазона. P/E на нормализованной прибыли — 8,0x.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Взвешенная DCF-оценка $109 лишь на 6% выше цены; разброс сценариев $35–200 отражает высокий операционный рычаг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UAL_model.xlsx (DCF, Multiples, Sensitivity, ReverseDCF).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11</a:t>
            </a:r>
          </a:p>
        </p:txBody>
      </p:sp>
      <p:pic>
        <p:nvPicPr>
          <p:cNvPr id="6" name="Picture 5" descr="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589520" cy="39286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32588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WACC 8,5%: Rf 5,24%, β 1,36, ERP 5%, Kd 6,5% до налога; долг с арендой 51% капитала.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Терминал: g 2,5%, RONIC 10%; выход по EV/EBITDAR 6,2x (база).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Reverse DCF: цена закладывает маржу 2032E 8,6% ≈ средней за цикл 8,6% и WACC 8,4%.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Наша EPS 2027E $8,71 против консенсуса $12,83: консенсус ждёт возврата к средней марже уже в 2027, мы — к 2030–2032.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Топливо — главный драйвер: каждые $0,30/галл. в 2027 стоят ~$2,9 EPS, а 2% TRASM — ~$2,9; при $3,90 и неизменном RASM EPS 2027E падает до $2,6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UAL_model.xlsx, лист Sensitivity (EPS 2027E, базовый сценарий: топливо $3,30, TRASM 19,68 цента; без переноса топлива в тариф).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6949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"/>
                <a:gridCol w="914400"/>
                <a:gridCol w="914400"/>
                <a:gridCol w="914400"/>
                <a:gridCol w="91440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Топливо 2027E, $/галл. \ ΔTRASM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−4%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−2%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+2%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+4%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2,70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$9,06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$11,96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$14,86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$17,75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$20,65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3,00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$5,99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$8,88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$11,78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$14,68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$17,58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3,30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$2,91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$5,81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$8,71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$11,61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$14,51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3,60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−$0,16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$2,74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$5,64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$8,54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$11,44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3,90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−$3,49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−$0,33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$2,57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$5,47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$8,37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4,20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−$6,98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−$3,69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−$0,50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$2,40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$5,30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Как читать: строка — цена топлива 2027E, столбец — отклонение TRASM 2027E от базы; эффект статический (без переноса в тариф).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Стоимость акции (Гордон) по WACC 7,5–9,5% при g 2,5%: $70–143; ±0,5 п.п. WACC ≈ ±$15–20. Полная таблица WACC × g — в отчёте и Excel (лист Sensitivity).</a:t>
            </a:r>
          </a:p>
          <a:p>
            <a:pPr>
              <a:spcAft>
                <a:spcPts val="400"/>
              </a:spcAft>
              <a:defRPr sz="1100" b="0">
                <a:solidFill>
                  <a:srgbClr val="0B0B0B"/>
                </a:solidFill>
                <a:latin typeface="Arial"/>
              </a:defRPr>
            </a:pPr>
            <a:r>
              <a:t>Перенос топлива в тариф — ключ: UAL заявляет 100% к 4К26; Delta и Deutsche Bank ждут полного переноса только в 2027.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Главные риски — топливо и спрос; вывод неверен при топливе ниже $3/галл. (апсайд к ~$200) или росте TRASM 4К26 менее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Оценка аналитика; 10-K 2025 (Risk Factors), 10-Q 2К26.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097280"/>
                <a:gridCol w="1097280"/>
                <a:gridCol w="4846320"/>
              </a:tblGrid>
              <a:tr h="447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Риск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Вероятн.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Влияние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Что отслеживать / порог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Топливо и Ближний Восток (Brent $125 в начале окт.)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Высокая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Высокое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Спот Gulf Coast &gt;$4,50 устойчиво → пересмотр в Sell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Рецессия США (UST10 5,2%, нефтяной шок)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Высокое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TRASM г/г ниже +5% в 4К26 / отрицательный в 2027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Задержки Boeing (MAX 10 не сертифицирован)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Высокая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Среднее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Поставки 787 в 2027 &lt; 20; капзатраты сдвигаются, рост ASM ниже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Труд: IAM, IBT открыты; пилоты — окт. 2027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Среднее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CASM-ex 2027 &gt; +4% г/г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FAA и инфраструктура (лимит ORD, ATC, Newark)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Среднее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Продление ограничений FAA на хабах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Геополитика на международных маршрутах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Среднее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Доля МБВ/Индии/Африки уже −34% ASM в 2К26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Долг и ставки (скорр. долг $34,7 млрд)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Низкая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Среднее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Чистый долг / EBITDAR &gt; 3,0x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Конкуренция в премиуме (Delta, AA)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Среднее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Рост премиальной выручки UAL ниже DAL 2 кв. подряд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  <a:latin typeface="Arial"/>
              </a:defRPr>
            </a:pPr>
            <a:r>
              <a:t>Катализаторы: отчёт за 3К26 и прогноз на 4К (20.10.2026); снижение нефти (EIA: Brent $84 в 2027); инвестиционный рейтинг (2026); A321XLR на международных рейсах (начало 2027); возобновление выкупа ($755 млн); сертификация MAX 10.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F3864"/>
                </a:solidFill>
                <a:latin typeface="Arial"/>
              </a:defRPr>
            </a:pPr>
            <a:r>
              <a:t>Ограничения: оценка держится на терминальной марже и цене топлива, поэтому вывод — Hold с широким диапазоном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Источник: Оценка аналитика.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00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2514E"/>
                </a:solidFill>
                <a:latin typeface="Arial"/>
              </a:defRPr>
            </a:pPr>
            <a:r>
              <a:t>UAL |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6126480"/>
              </a:tblGrid>
              <a:tr h="960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Слабое место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Как влияет на вывод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Терминальная стоимость &gt; 100% EV в базовом DCF: FCFF отрицателен до 2029 из-за капзатрат 11–12% выручки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±0,5 п.п. к росту TRASM в год меняют стоимость на ~±$50 → широкий диапазон; это аргумент за Hold, а не за уверенный Buy/Sell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Путь цены топлива и доля переноса в тариф (2П26 $4,39; 2027 $3,30 по EIA)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При $3,90 в 2027 EPS 2027E падает с $8,71 до $2,57; отчёт за 3К26 (20.10) может сдвинуть оценку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Данные: 3К26 не вышел; пиры по GAAP со спецстатьями, НПЗ Delta, международные пиры не рассчитаны; доли хабов — вторичный источник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0B0B"/>
                          </a:solidFill>
                          <a:latin typeface="Arial"/>
                        </a:defRPr>
                      </a:pPr>
                      <a:r>
                        <a:t>Сравнение с пирами только вспомогательное; рекомендация опирается на DCF и историю 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  <a:latin typeface="Arial"/>
              </a:defRPr>
            </a:pPr>
            <a:r>
              <a:t>Прочее: бета 1,36 сырая (по Блюму 1,24 → WACC ~8,2%, оценка +~$10); консенсус EPS — с агрегатора; скорр. долг 2019 — оценка по XBRL.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